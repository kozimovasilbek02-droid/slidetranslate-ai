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Barlow ExtraBold"/>
      <p:bold r:id="rId13"/>
      <p:boldItalic r:id="rId14"/>
    </p:embeddedFont>
    <p:embeddedFont>
      <p:font typeface="Barlow"/>
      <p:regular r:id="rId15"/>
      <p:bold r:id="rId16"/>
      <p:italic r:id="rId17"/>
      <p:boldItalic r:id="rId18"/>
    </p:embeddedFont>
    <p:embeddedFont>
      <p:font typeface="Barlow Black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BarlowExtraBold-bold.fntdata"/><Relationship Id="rId14" Type="http://schemas.openxmlformats.org/officeDocument/2006/relationships/font" Target="fonts/BarlowExtraBold-boldItalic.fntdata"/><Relationship Id="rId15" Type="http://schemas.openxmlformats.org/officeDocument/2006/relationships/font" Target="fonts/Barlow-regular.fntdata"/><Relationship Id="rId16" Type="http://schemas.openxmlformats.org/officeDocument/2006/relationships/font" Target="fonts/Barlow-bold.fntdata"/><Relationship Id="rId17" Type="http://schemas.openxmlformats.org/officeDocument/2006/relationships/font" Target="fonts/Barlow-italic.fntdata"/><Relationship Id="rId18" Type="http://schemas.openxmlformats.org/officeDocument/2006/relationships/font" Target="fonts/Barlow-boldItalic.fntdata"/><Relationship Id="rId19" Type="http://schemas.openxmlformats.org/officeDocument/2006/relationships/font" Target="fonts/BarlowBlack-bold.fntdata"/><Relationship Id="rId20" Type="http://schemas.openxmlformats.org/officeDocument/2006/relationships/font" Target="fonts/BarlowBlack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1-toifa</c:v>
                </c:pt>
              </c:strCache>
            </c:strRef>
          </c:tx>
          <c:spPr>
            <a:solidFill>
              <a:srgbClr val="7959A4"/>
            </a:solidFill>
          </c:spPr>
          <c:cat>
            <c:strRef>
              <c:f>Sheet1!$A$2:$A$4</c:f>
              <c:strCache>
                <c:ptCount val="3"/>
                <c:pt idx="0">
                  <c:v>1-mahsulot</c:v>
                </c:pt>
                <c:pt idx="1">
                  <c:v>2-mahsulot</c:v>
                </c:pt>
                <c:pt idx="2">
                  <c:v>3-mahsulot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8</c:v>
                </c:pt>
                <c:pt idx="2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2-toifa</c:v>
                </c:pt>
              </c:strCache>
            </c:strRef>
          </c:tx>
          <c:spPr>
            <a:solidFill>
              <a:srgbClr val="0B9672"/>
            </a:solidFill>
          </c:spPr>
          <c:cat>
            <c:strRef>
              <c:f>Sheet1!$A$2:$A$4</c:f>
              <c:strCache>
                <c:ptCount val="3"/>
                <c:pt idx="0">
                  <c:v>1-mahsulot</c:v>
                </c:pt>
                <c:pt idx="1">
                  <c:v>2-mahsulot</c:v>
                </c:pt>
                <c:pt idx="2">
                  <c:v>3-mahsulot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756380" y="-928333"/>
            <a:ext cx="7771686" cy="7743426"/>
          </a:xfrm>
          <a:custGeom>
            <a:rect b="b" l="l" r="r" t="t"/>
            <a:pathLst>
              <a:path extrusionOk="0" h="7743426" w="7771686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7707893" y="475155"/>
            <a:ext cx="11124714" cy="10131436"/>
          </a:xfrm>
          <a:custGeom>
            <a:rect b="b" l="l" r="r" t="t"/>
            <a:pathLst>
              <a:path extrusionOk="0" h="10131436" w="11124714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236699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-297630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376187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12604632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9144000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497253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887242" y="-1958912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1153170" y="4297683"/>
            <a:ext cx="2858576" cy="2644336"/>
          </a:xfrm>
          <a:custGeom>
            <a:rect b="b" l="l" r="r" t="t"/>
            <a:pathLst>
              <a:path extrusionOk="0" h="2644336" w="2858576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5"/>
          <p:cNvSpPr/>
          <p:nvPr/>
        </p:nvSpPr>
        <p:spPr>
          <a:xfrm>
            <a:off x="5426103" y="2189068"/>
            <a:ext cx="3227386" cy="3430783"/>
          </a:xfrm>
          <a:custGeom>
            <a:rect b="b" l="l" r="r" t="t"/>
            <a:pathLst>
              <a:path extrusionOk="0" h="3430783" w="3227386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>
            <a:off x="10227060" y="1214025"/>
            <a:ext cx="2471011" cy="3272862"/>
          </a:xfrm>
          <a:custGeom>
            <a:rect b="b" l="l" r="r" t="t"/>
            <a:pathLst>
              <a:path extrusionOk="0" h="3272862" w="2471011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4396639" y="476351"/>
            <a:ext cx="3044603" cy="2940291"/>
          </a:xfrm>
          <a:custGeom>
            <a:rect b="b" l="l" r="r" t="t"/>
            <a:pathLst>
              <a:path extrusionOk="0" h="2940291" w="3044603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" name="Google Shape;31;p5"/>
          <p:cNvCxnSpPr/>
          <p:nvPr/>
        </p:nvCxnSpPr>
        <p:spPr>
          <a:xfrm flipH="1" rot="10800000">
            <a:off x="-175850" y="6022775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5"/>
          <p:cNvCxnSpPr/>
          <p:nvPr/>
        </p:nvCxnSpPr>
        <p:spPr>
          <a:xfrm flipH="1" rot="10800000">
            <a:off x="9363850" y="3668850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5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596405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-424064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>
            <a:off x="1235217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>
            <a:off x="10687311" y="-1045791"/>
            <a:ext cx="8525129" cy="8494128"/>
          </a:xfrm>
          <a:custGeom>
            <a:rect b="b" l="l" r="r" t="t"/>
            <a:pathLst>
              <a:path extrusionOk="0" h="8494128" w="8525129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>
            <a:off x="8284138" y="1328246"/>
            <a:ext cx="9566467" cy="9525585"/>
          </a:xfrm>
          <a:custGeom>
            <a:rect b="b" l="l" r="r" t="t"/>
            <a:pathLst>
              <a:path extrusionOk="0" h="9525585" w="9566467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" name="Google Shape;40;p6"/>
          <p:cNvGrpSpPr/>
          <p:nvPr/>
        </p:nvGrpSpPr>
        <p:grpSpPr>
          <a:xfrm>
            <a:off x="557004" y="575065"/>
            <a:ext cx="4362216" cy="4362216"/>
            <a:chOff x="0" y="0"/>
            <a:chExt cx="812800" cy="812800"/>
          </a:xfrm>
        </p:grpSpPr>
        <p:sp>
          <p:nvSpPr>
            <p:cNvPr id="41" name="Google Shape;41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6"/>
          <p:cNvGrpSpPr/>
          <p:nvPr/>
        </p:nvGrpSpPr>
        <p:grpSpPr>
          <a:xfrm>
            <a:off x="5320219" y="575065"/>
            <a:ext cx="4362216" cy="4362216"/>
            <a:chOff x="0" y="0"/>
            <a:chExt cx="812800" cy="812800"/>
          </a:xfrm>
        </p:grpSpPr>
        <p:sp>
          <p:nvSpPr>
            <p:cNvPr id="44" name="Google Shape;44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6"/>
          <p:cNvGrpSpPr/>
          <p:nvPr/>
        </p:nvGrpSpPr>
        <p:grpSpPr>
          <a:xfrm>
            <a:off x="2820601" y="4896063"/>
            <a:ext cx="4362216" cy="4362216"/>
            <a:chOff x="0" y="0"/>
            <a:chExt cx="812800" cy="812800"/>
          </a:xfrm>
        </p:grpSpPr>
        <p:sp>
          <p:nvSpPr>
            <p:cNvPr id="47" name="Google Shape;47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7"/>
          <p:cNvGrpSpPr/>
          <p:nvPr/>
        </p:nvGrpSpPr>
        <p:grpSpPr>
          <a:xfrm>
            <a:off x="2791098" y="552900"/>
            <a:ext cx="14633632" cy="6599832"/>
            <a:chOff x="0" y="-47625"/>
            <a:chExt cx="3854100" cy="1738216"/>
          </a:xfrm>
        </p:grpSpPr>
        <p:sp>
          <p:nvSpPr>
            <p:cNvPr id="51" name="Google Shape;51;p7"/>
            <p:cNvSpPr/>
            <p:nvPr/>
          </p:nvSpPr>
          <p:spPr>
            <a:xfrm>
              <a:off x="0" y="0"/>
              <a:ext cx="3854001" cy="1690591"/>
            </a:xfrm>
            <a:custGeom>
              <a:rect b="b" l="l" r="r" t="t"/>
              <a:pathLst>
                <a:path extrusionOk="0" h="1690591" w="3854001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0" y="-47625"/>
              <a:ext cx="3854100" cy="17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129033" y="1040877"/>
            <a:ext cx="6041503" cy="5881949"/>
          </a:xfrm>
          <a:custGeom>
            <a:rect b="b" l="l" r="r" t="t"/>
            <a:pathLst>
              <a:path extrusionOk="0" h="5881949" w="6041503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50"/>
            <a:ext cx="1389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Barlow ExtraBold"/>
              <a:buNone/>
              <a:defRPr i="0" sz="6400" u="none" cap="none" strike="noStrike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8150" lvl="0" marL="4572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Barlow"/>
              <a:buChar char="•"/>
              <a:defRPr i="0" sz="3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arlow"/>
              <a:buChar char="–"/>
              <a:defRPr i="0" sz="29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Char char="•"/>
              <a:defRPr i="0" sz="25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6195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–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»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619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6195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6195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6195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Relationship Id="rId9" Type="http://schemas.openxmlformats.org/officeDocument/2006/relationships/image" Target="../media/image8.png"/><Relationship Id="rId10" Type="http://schemas.openxmlformats.org/officeDocument/2006/relationships/image" Target="../media/image23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9756380" y="-928333"/>
            <a:ext cx="7771686" cy="7743426"/>
          </a:xfrm>
          <a:custGeom>
            <a:rect b="b" l="l" r="r" t="t"/>
            <a:pathLst>
              <a:path extrusionOk="0" h="7743426" w="7771686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59" name="Google Shape;59;p8"/>
          <p:cNvSpPr/>
          <p:nvPr/>
        </p:nvSpPr>
        <p:spPr>
          <a:xfrm>
            <a:off x="7707893" y="475155"/>
            <a:ext cx="11124714" cy="10131436"/>
          </a:xfrm>
          <a:custGeom>
            <a:rect b="b" l="l" r="r" t="t"/>
            <a:pathLst>
              <a:path extrusionOk="0" h="10131436" w="11124714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0" name="Google Shape;60;p8"/>
          <p:cNvSpPr/>
          <p:nvPr/>
        </p:nvSpPr>
        <p:spPr>
          <a:xfrm>
            <a:off x="236699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1" name="Google Shape;61;p8"/>
          <p:cNvSpPr/>
          <p:nvPr/>
        </p:nvSpPr>
        <p:spPr>
          <a:xfrm>
            <a:off x="-297630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2" name="Google Shape;62;p8"/>
          <p:cNvSpPr txBox="1"/>
          <p:nvPr/>
        </p:nvSpPr>
        <p:spPr>
          <a:xfrm>
            <a:off x="1028700" y="2679019"/>
            <a:ext cx="10807525" cy="274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65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Qishloq xo'jaligi</a:t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1028700" y="2242775"/>
            <a:ext cx="7992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80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QIYMAT ZANJIRI TAQDIMOTI</a:t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1028700" y="5657793"/>
            <a:ext cx="90213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Ushbu bo'limda qishloq xo'jaligi va agrosanoat sohasiga oid asosiy ma'lumotlar aks ettiriladi.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376187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0" name="Google Shape;70;p9"/>
          <p:cNvSpPr/>
          <p:nvPr/>
        </p:nvSpPr>
        <p:spPr>
          <a:xfrm>
            <a:off x="12604632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1" name="Google Shape;71;p9"/>
          <p:cNvSpPr/>
          <p:nvPr/>
        </p:nvSpPr>
        <p:spPr>
          <a:xfrm>
            <a:off x="9144000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2" name="Google Shape;72;p9"/>
          <p:cNvSpPr/>
          <p:nvPr/>
        </p:nvSpPr>
        <p:spPr>
          <a:xfrm flipH="1">
            <a:off x="-1497253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3" name="Google Shape;73;p9"/>
          <p:cNvSpPr txBox="1"/>
          <p:nvPr/>
        </p:nvSpPr>
        <p:spPr>
          <a:xfrm>
            <a:off x="4512480" y="1474226"/>
            <a:ext cx="926304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KIRISH</a:t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6465179" y="2845193"/>
            <a:ext cx="53577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Ushbu bo'limda loyihaning asosiy maqsadi, vazifalari va umumiy konseptual yondashuvlari yoritib beriladi.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596405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0" name="Google Shape;80;p10"/>
          <p:cNvSpPr/>
          <p:nvPr/>
        </p:nvSpPr>
        <p:spPr>
          <a:xfrm>
            <a:off x="-424064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1" name="Google Shape;81;p10"/>
          <p:cNvSpPr/>
          <p:nvPr/>
        </p:nvSpPr>
        <p:spPr>
          <a:xfrm>
            <a:off x="1235217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2" name="Google Shape;82;p10"/>
          <p:cNvSpPr/>
          <p:nvPr/>
        </p:nvSpPr>
        <p:spPr>
          <a:xfrm>
            <a:off x="10687311" y="-1045791"/>
            <a:ext cx="8525129" cy="8494128"/>
          </a:xfrm>
          <a:custGeom>
            <a:rect b="b" l="l" r="r" t="t"/>
            <a:pathLst>
              <a:path extrusionOk="0" h="8494128" w="8525129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3" name="Google Shape;83;p10"/>
          <p:cNvSpPr/>
          <p:nvPr/>
        </p:nvSpPr>
        <p:spPr>
          <a:xfrm>
            <a:off x="8284138" y="1328246"/>
            <a:ext cx="9566467" cy="9525585"/>
          </a:xfrm>
          <a:custGeom>
            <a:rect b="b" l="l" r="r" t="t"/>
            <a:pathLst>
              <a:path extrusionOk="0" h="9525585" w="9566467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84" name="Google Shape;84;p10"/>
          <p:cNvGrpSpPr/>
          <p:nvPr/>
        </p:nvGrpSpPr>
        <p:grpSpPr>
          <a:xfrm>
            <a:off x="557004" y="575065"/>
            <a:ext cx="4362237" cy="4362237"/>
            <a:chOff x="0" y="0"/>
            <a:chExt cx="812800" cy="812800"/>
          </a:xfrm>
        </p:grpSpPr>
        <p:sp>
          <p:nvSpPr>
            <p:cNvPr id="85" name="Google Shape;85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0"/>
          <p:cNvGrpSpPr/>
          <p:nvPr/>
        </p:nvGrpSpPr>
        <p:grpSpPr>
          <a:xfrm>
            <a:off x="5320219" y="575065"/>
            <a:ext cx="4362237" cy="4362237"/>
            <a:chOff x="0" y="0"/>
            <a:chExt cx="812800" cy="812800"/>
          </a:xfrm>
        </p:grpSpPr>
        <p:sp>
          <p:nvSpPr>
            <p:cNvPr id="88" name="Google Shape;88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0"/>
          <p:cNvGrpSpPr/>
          <p:nvPr/>
        </p:nvGrpSpPr>
        <p:grpSpPr>
          <a:xfrm>
            <a:off x="2820601" y="4896063"/>
            <a:ext cx="4362237" cy="4362237"/>
            <a:chOff x="0" y="0"/>
            <a:chExt cx="812800" cy="812800"/>
          </a:xfrm>
        </p:grpSpPr>
        <p:sp>
          <p:nvSpPr>
            <p:cNvPr id="91" name="Google Shape;91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0"/>
          <p:cNvSpPr txBox="1"/>
          <p:nvPr/>
        </p:nvSpPr>
        <p:spPr>
          <a:xfrm>
            <a:off x="1570720" y="1222353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55%</a:t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1570676" y="2251050"/>
            <a:ext cx="233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1-BOSQICH</a:t>
            </a:r>
            <a:endParaRPr/>
          </a:p>
        </p:txBody>
      </p:sp>
      <p:sp>
        <p:nvSpPr>
          <p:cNvPr id="95" name="Google Shape;95;p10"/>
          <p:cNvSpPr txBox="1"/>
          <p:nvPr/>
        </p:nvSpPr>
        <p:spPr>
          <a:xfrm>
            <a:off x="1344954" y="3041712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Bosqichning asosiy ko'rsatkichlari va jarayonlarining qisqacha tavsifi.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6333936" y="1222353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89%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6452196" y="2251053"/>
            <a:ext cx="209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2-BOSQICH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6108169" y="3041712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Bosqichning asosiy ko'rsatkichlari va jarayonlarining qisqacha tavsifi.</a:t>
            </a:r>
            <a:endParaRPr/>
          </a:p>
        </p:txBody>
      </p:sp>
      <p:sp>
        <p:nvSpPr>
          <p:cNvPr id="99" name="Google Shape;99;p10"/>
          <p:cNvSpPr txBox="1"/>
          <p:nvPr/>
        </p:nvSpPr>
        <p:spPr>
          <a:xfrm>
            <a:off x="3834318" y="5543351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25%</a:t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3979906" y="6572051"/>
            <a:ext cx="20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3-BOSQICH</a:t>
            </a:r>
            <a:endParaRPr/>
          </a:p>
        </p:txBody>
      </p:sp>
      <p:sp>
        <p:nvSpPr>
          <p:cNvPr id="101" name="Google Shape;101;p10"/>
          <p:cNvSpPr txBox="1"/>
          <p:nvPr/>
        </p:nvSpPr>
        <p:spPr>
          <a:xfrm>
            <a:off x="3608551" y="7362709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Bosqichning asosiy ko'rsatkichlari va jarayonlarining qisqacha tavsifi.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-887242" y="-1958912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7" name="Google Shape;107;p11"/>
          <p:cNvSpPr/>
          <p:nvPr/>
        </p:nvSpPr>
        <p:spPr>
          <a:xfrm>
            <a:off x="1153170" y="4297683"/>
            <a:ext cx="2858576" cy="2644336"/>
          </a:xfrm>
          <a:custGeom>
            <a:rect b="b" l="l" r="r" t="t"/>
            <a:pathLst>
              <a:path extrusionOk="0" h="2644336" w="2858576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8" name="Google Shape;108;p11"/>
          <p:cNvSpPr/>
          <p:nvPr/>
        </p:nvSpPr>
        <p:spPr>
          <a:xfrm>
            <a:off x="5426103" y="2189068"/>
            <a:ext cx="3227386" cy="3430783"/>
          </a:xfrm>
          <a:custGeom>
            <a:rect b="b" l="l" r="r" t="t"/>
            <a:pathLst>
              <a:path extrusionOk="0" h="3430783" w="3227386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9" name="Google Shape;109;p11"/>
          <p:cNvSpPr/>
          <p:nvPr/>
        </p:nvSpPr>
        <p:spPr>
          <a:xfrm>
            <a:off x="10227060" y="1214025"/>
            <a:ext cx="2471011" cy="3272862"/>
          </a:xfrm>
          <a:custGeom>
            <a:rect b="b" l="l" r="r" t="t"/>
            <a:pathLst>
              <a:path extrusionOk="0" h="3272862" w="2471011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0" name="Google Shape;110;p11"/>
          <p:cNvSpPr txBox="1"/>
          <p:nvPr/>
        </p:nvSpPr>
        <p:spPr>
          <a:xfrm>
            <a:off x="749528" y="7539569"/>
            <a:ext cx="36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9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CHIQARISHGACHA BO'LGAN BOSQICH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5764526" y="6339119"/>
            <a:ext cx="265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9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</a:t>
            </a:r>
            <a:endParaRPr/>
          </a:p>
        </p:txBody>
      </p:sp>
      <p:sp>
        <p:nvSpPr>
          <p:cNvPr id="112" name="Google Shape;112;p11"/>
          <p:cNvSpPr txBox="1"/>
          <p:nvPr/>
        </p:nvSpPr>
        <p:spPr>
          <a:xfrm>
            <a:off x="9720289" y="5279808"/>
            <a:ext cx="384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8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CHIQARISHDAN KEYINGI BOSQICH</a:t>
            </a:r>
            <a:endParaRPr/>
          </a:p>
        </p:txBody>
      </p:sp>
      <p:sp>
        <p:nvSpPr>
          <p:cNvPr id="113" name="Google Shape;113;p11"/>
          <p:cNvSpPr txBox="1"/>
          <p:nvPr/>
        </p:nvSpPr>
        <p:spPr>
          <a:xfrm>
            <a:off x="13767315" y="3904460"/>
            <a:ext cx="430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5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SANOAT DARAJASIDA QAYTA ISHLASH</a:t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14396639" y="476351"/>
            <a:ext cx="3044603" cy="2940291"/>
          </a:xfrm>
          <a:custGeom>
            <a:rect b="b" l="l" r="r" t="t"/>
            <a:pathLst>
              <a:path extrusionOk="0" h="2940291" w="3044603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5" name="Google Shape;115;p11"/>
          <p:cNvSpPr txBox="1"/>
          <p:nvPr/>
        </p:nvSpPr>
        <p:spPr>
          <a:xfrm>
            <a:off x="680422" y="8327717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Tayyorlov, urug'chilik, o'g'itlash va resurslarni rejalashtirish jarayonlari.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5172313" y="7200179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Ekinlarni yetishtirish, parvarishlash va hosilni yig'ib olish bosqichi.</a:t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9595083" y="6126059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Hosilni saralash, saqlash, qadoqlash va logistika jarayonlari.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14051457" y="5298858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Xomashyoni qayta ishlash va yuqori qo'shilgan qiymatli mahsulot ishlab chiqarish.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8422746" y="8737514"/>
            <a:ext cx="926304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2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QIYMAT ZANJIRI NAMUNASI</a:t>
            </a:r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 flipH="1" rot="10800000">
            <a:off x="-175850" y="6022775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1"/>
          <p:cNvCxnSpPr/>
          <p:nvPr/>
        </p:nvCxnSpPr>
        <p:spPr>
          <a:xfrm flipH="1" rot="10800000">
            <a:off x="9363850" y="3668850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2"/>
          <p:cNvGrpSpPr/>
          <p:nvPr/>
        </p:nvGrpSpPr>
        <p:grpSpPr>
          <a:xfrm>
            <a:off x="2791098" y="552901"/>
            <a:ext cx="14633160" cy="6599787"/>
            <a:chOff x="0" y="-47625"/>
            <a:chExt cx="3854001" cy="1738216"/>
          </a:xfrm>
        </p:grpSpPr>
        <p:sp>
          <p:nvSpPr>
            <p:cNvPr id="128" name="Google Shape;128;p12"/>
            <p:cNvSpPr/>
            <p:nvPr/>
          </p:nvSpPr>
          <p:spPr>
            <a:xfrm>
              <a:off x="0" y="0"/>
              <a:ext cx="3854001" cy="1690591"/>
            </a:xfrm>
            <a:custGeom>
              <a:rect b="b" l="l" r="r" t="t"/>
              <a:pathLst>
                <a:path extrusionOk="0" h="1690591" w="3854001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2"/>
            <p:cNvSpPr txBox="1"/>
            <p:nvPr/>
          </p:nvSpPr>
          <p:spPr>
            <a:xfrm>
              <a:off x="0" y="-47625"/>
              <a:ext cx="3854001" cy="1738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2"/>
          <p:cNvSpPr/>
          <p:nvPr/>
        </p:nvSpPr>
        <p:spPr>
          <a:xfrm>
            <a:off x="129033" y="1040877"/>
            <a:ext cx="6041503" cy="5881949"/>
          </a:xfrm>
          <a:custGeom>
            <a:rect b="b" l="l" r="r" t="t"/>
            <a:pathLst>
              <a:path extrusionOk="0" h="5881949" w="6041503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32" name="Google Shape;132;p12"/>
          <p:cNvSpPr txBox="1"/>
          <p:nvPr/>
        </p:nvSpPr>
        <p:spPr>
          <a:xfrm>
            <a:off x="844637" y="8001953"/>
            <a:ext cx="461672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STATISTIKA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6049784" y="7963853"/>
            <a:ext cx="5393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Agrosanoat tarmog'idagi asosiy ko'rsatkichlar va dinamikaning tahliliy ma'lumotlari.</a:t>
            </a:r>
            <a:endParaRPr/>
          </a:p>
        </p:txBody>
      </p:sp>
      <p:sp>
        <p:nvSpPr>
          <p:cNvPr id="134" name="Google Shape;134;p12"/>
          <p:cNvSpPr txBox="1"/>
          <p:nvPr/>
        </p:nvSpPr>
        <p:spPr>
          <a:xfrm>
            <a:off x="12031233" y="7963853"/>
            <a:ext cx="5393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Bozor ulushi, samaradorlik va o'sish sur'atlarini aks ettiruvchi statistik ma'lumotlar.</a:t>
            </a:r>
            <a:endParaRPr/>
          </a:p>
        </p:txBody>
      </p:sp>
      <p:graphicFrame>
        <p:nvGraphicFramePr>
          <p:cNvPr id="135" name="Chart 134"/>
          <p:cNvGraphicFramePr>
            <a:graphicFrameLocks noGrp="1"/>
          </p:cNvGraphicFramePr>
          <p:nvPr/>
        </p:nvGraphicFramePr>
        <p:xfrm>
          <a:off x="5668753" y="339027"/>
          <a:ext cx="11959886" cy="7285648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3"/>
          <p:cNvGrpSpPr/>
          <p:nvPr/>
        </p:nvGrpSpPr>
        <p:grpSpPr>
          <a:xfrm>
            <a:off x="719627" y="2075021"/>
            <a:ext cx="5097641" cy="7472652"/>
            <a:chOff x="0" y="-19050"/>
            <a:chExt cx="1342589" cy="1968106"/>
          </a:xfrm>
        </p:grpSpPr>
        <p:sp>
          <p:nvSpPr>
            <p:cNvPr id="140" name="Google Shape;140;p13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3"/>
          <p:cNvGrpSpPr/>
          <p:nvPr/>
        </p:nvGrpSpPr>
        <p:grpSpPr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143" name="Google Shape;143;p13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146" name="Google Shape;146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3"/>
          <p:cNvGrpSpPr/>
          <p:nvPr/>
        </p:nvGrpSpPr>
        <p:grpSpPr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149" name="Google Shape;149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152" name="Google Shape;152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3"/>
          <p:cNvGrpSpPr/>
          <p:nvPr/>
        </p:nvGrpSpPr>
        <p:grpSpPr>
          <a:xfrm>
            <a:off x="1434359" y="7937940"/>
            <a:ext cx="828368" cy="847783"/>
            <a:chOff x="0" y="-19050"/>
            <a:chExt cx="812800" cy="831850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ADF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3"/>
          <p:cNvGrpSpPr/>
          <p:nvPr/>
        </p:nvGrpSpPr>
        <p:grpSpPr>
          <a:xfrm>
            <a:off x="2388318" y="7937940"/>
            <a:ext cx="828368" cy="847783"/>
            <a:chOff x="0" y="-19050"/>
            <a:chExt cx="812800" cy="831850"/>
          </a:xfrm>
        </p:grpSpPr>
        <p:sp>
          <p:nvSpPr>
            <p:cNvPr id="158" name="Google Shape;15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3"/>
          <p:cNvGrpSpPr/>
          <p:nvPr/>
        </p:nvGrpSpPr>
        <p:grpSpPr>
          <a:xfrm>
            <a:off x="3342277" y="7937940"/>
            <a:ext cx="828368" cy="847783"/>
            <a:chOff x="0" y="-19050"/>
            <a:chExt cx="812800" cy="831850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CE0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3"/>
          <p:cNvGrpSpPr/>
          <p:nvPr/>
        </p:nvGrpSpPr>
        <p:grpSpPr>
          <a:xfrm>
            <a:off x="4254614" y="7937940"/>
            <a:ext cx="828368" cy="847783"/>
            <a:chOff x="0" y="-19050"/>
            <a:chExt cx="812800" cy="831850"/>
          </a:xfrm>
        </p:grpSpPr>
        <p:sp>
          <p:nvSpPr>
            <p:cNvPr id="164" name="Google Shape;16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95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3"/>
          <p:cNvSpPr/>
          <p:nvPr/>
        </p:nvSpPr>
        <p:spPr>
          <a:xfrm>
            <a:off x="7394616" y="6537926"/>
            <a:ext cx="1674940" cy="1780498"/>
          </a:xfrm>
          <a:custGeom>
            <a:rect b="b" l="l" r="r" t="t"/>
            <a:pathLst>
              <a:path extrusionOk="0" h="1780498" w="1674940">
                <a:moveTo>
                  <a:pt x="0" y="0"/>
                </a:moveTo>
                <a:lnTo>
                  <a:pt x="1674940" y="0"/>
                </a:lnTo>
                <a:lnTo>
                  <a:pt x="1674940" y="1780498"/>
                </a:lnTo>
                <a:lnTo>
                  <a:pt x="0" y="1780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7" name="Google Shape;167;p13"/>
          <p:cNvSpPr/>
          <p:nvPr/>
        </p:nvSpPr>
        <p:spPr>
          <a:xfrm>
            <a:off x="9515865" y="6604247"/>
            <a:ext cx="1809411" cy="1647856"/>
          </a:xfrm>
          <a:custGeom>
            <a:rect b="b" l="l" r="r" t="t"/>
            <a:pathLst>
              <a:path extrusionOk="0" h="1647856" w="1809411">
                <a:moveTo>
                  <a:pt x="0" y="0"/>
                </a:moveTo>
                <a:lnTo>
                  <a:pt x="1809411" y="0"/>
                </a:lnTo>
                <a:lnTo>
                  <a:pt x="1809411" y="1647856"/>
                </a:lnTo>
                <a:lnTo>
                  <a:pt x="0" y="1647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8" name="Google Shape;168;p13"/>
          <p:cNvSpPr/>
          <p:nvPr/>
        </p:nvSpPr>
        <p:spPr>
          <a:xfrm>
            <a:off x="6893593" y="4343989"/>
            <a:ext cx="1646731" cy="1523315"/>
          </a:xfrm>
          <a:custGeom>
            <a:rect b="b" l="l" r="r" t="t"/>
            <a:pathLst>
              <a:path extrusionOk="0" h="1523315" w="1646731">
                <a:moveTo>
                  <a:pt x="0" y="0"/>
                </a:moveTo>
                <a:lnTo>
                  <a:pt x="1646731" y="0"/>
                </a:lnTo>
                <a:lnTo>
                  <a:pt x="1646731" y="1523314"/>
                </a:lnTo>
                <a:lnTo>
                  <a:pt x="0" y="1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9" name="Google Shape;169;p13"/>
          <p:cNvSpPr/>
          <p:nvPr/>
        </p:nvSpPr>
        <p:spPr>
          <a:xfrm>
            <a:off x="11249527" y="4335827"/>
            <a:ext cx="1162426" cy="1539637"/>
          </a:xfrm>
          <a:custGeom>
            <a:rect b="b" l="l" r="r" t="t"/>
            <a:pathLst>
              <a:path extrusionOk="0" h="1539637" w="1162426">
                <a:moveTo>
                  <a:pt x="0" y="0"/>
                </a:moveTo>
                <a:lnTo>
                  <a:pt x="1162426" y="0"/>
                </a:lnTo>
                <a:lnTo>
                  <a:pt x="1162426" y="1539637"/>
                </a:lnTo>
                <a:lnTo>
                  <a:pt x="0" y="153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0" name="Google Shape;170;p13"/>
          <p:cNvSpPr/>
          <p:nvPr/>
        </p:nvSpPr>
        <p:spPr>
          <a:xfrm>
            <a:off x="13001628" y="4423077"/>
            <a:ext cx="1413568" cy="1365137"/>
          </a:xfrm>
          <a:custGeom>
            <a:rect b="b" l="l" r="r" t="t"/>
            <a:pathLst>
              <a:path extrusionOk="0" h="1365137" w="1413568">
                <a:moveTo>
                  <a:pt x="0" y="0"/>
                </a:moveTo>
                <a:lnTo>
                  <a:pt x="1413567" y="0"/>
                </a:lnTo>
                <a:lnTo>
                  <a:pt x="1413567" y="1365138"/>
                </a:lnTo>
                <a:lnTo>
                  <a:pt x="0" y="1365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1" name="Google Shape;171;p13"/>
          <p:cNvSpPr/>
          <p:nvPr/>
        </p:nvSpPr>
        <p:spPr>
          <a:xfrm>
            <a:off x="15005745" y="4189731"/>
            <a:ext cx="1838516" cy="1831831"/>
          </a:xfrm>
          <a:custGeom>
            <a:rect b="b" l="l" r="r" t="t"/>
            <a:pathLst>
              <a:path extrusionOk="0" h="1831831" w="1838516">
                <a:moveTo>
                  <a:pt x="0" y="0"/>
                </a:moveTo>
                <a:lnTo>
                  <a:pt x="1838517" y="0"/>
                </a:lnTo>
                <a:lnTo>
                  <a:pt x="1838517" y="1831830"/>
                </a:lnTo>
                <a:lnTo>
                  <a:pt x="0" y="183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2" name="Google Shape;172;p13"/>
          <p:cNvSpPr/>
          <p:nvPr/>
        </p:nvSpPr>
        <p:spPr>
          <a:xfrm>
            <a:off x="9129999" y="4343989"/>
            <a:ext cx="1529852" cy="1523315"/>
          </a:xfrm>
          <a:custGeom>
            <a:rect b="b" l="l" r="r" t="t"/>
            <a:pathLst>
              <a:path extrusionOk="0" h="1523315" w="1529852">
                <a:moveTo>
                  <a:pt x="0" y="0"/>
                </a:moveTo>
                <a:lnTo>
                  <a:pt x="1529853" y="0"/>
                </a:lnTo>
                <a:lnTo>
                  <a:pt x="1529853" y="1523314"/>
                </a:lnTo>
                <a:lnTo>
                  <a:pt x="0" y="1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3" name="Google Shape;173;p13"/>
          <p:cNvSpPr/>
          <p:nvPr/>
        </p:nvSpPr>
        <p:spPr>
          <a:xfrm>
            <a:off x="11771584" y="6589394"/>
            <a:ext cx="1723067" cy="1677561"/>
          </a:xfrm>
          <a:custGeom>
            <a:rect b="b" l="l" r="r" t="t"/>
            <a:pathLst>
              <a:path extrusionOk="0" h="1677561" w="1723067">
                <a:moveTo>
                  <a:pt x="0" y="0"/>
                </a:moveTo>
                <a:lnTo>
                  <a:pt x="1723067" y="0"/>
                </a:lnTo>
                <a:lnTo>
                  <a:pt x="1723067" y="1677561"/>
                </a:lnTo>
                <a:lnTo>
                  <a:pt x="0" y="1677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4" name="Google Shape;174;p13"/>
          <p:cNvSpPr txBox="1"/>
          <p:nvPr/>
        </p:nvSpPr>
        <p:spPr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onlayn tarzda ham topishingiz mumkin.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1693180" y="39190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BO'LIM SARLAVHALARI: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1177805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#8ADFA4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131764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#0B9672</a:t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3085723" y="8925834"/>
            <a:ext cx="1341476" cy="183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#FCE064</a:t>
            </a:r>
            <a:endParaRPr/>
          </a:p>
        </p:txBody>
      </p:sp>
      <p:sp>
        <p:nvSpPr>
          <p:cNvPr id="180" name="Google Shape;180;p13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Ushbu dizayn resurslaridan Canva taqdimotingizda foydalaning.</a:t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11651615" y="9777291"/>
            <a:ext cx="59169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8" u="none" cap="none" strike="noStrike">
                <a:solidFill>
                  <a:srgbClr val="FFFFFF"/>
                </a:solidFill>
              </a:rPr>
              <a:t>TAQDIMOTDAN OL DIN USHBU SAHIFANI O'CHIRIB TASHLASHNI UNUTMANG.</a:t>
            </a:r>
            <a:endParaRPr b="1"/>
          </a:p>
        </p:txBody>
      </p:sp>
      <p:sp>
        <p:nvSpPr>
          <p:cNvPr id="182" name="Google Shape;182;p13"/>
          <p:cNvSpPr txBox="1"/>
          <p:nvPr/>
        </p:nvSpPr>
        <p:spPr>
          <a:xfrm>
            <a:off x="5469973" y="543899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70" u="none" cap="none" strike="noStrike">
                <a:solidFill>
                  <a:srgbClr val="FFFFFF"/>
                </a:solidFill>
              </a:rPr>
              <a:t>RESURSLAR SAHIFASI</a:t>
            </a:r>
            <a:endParaRPr b="1"/>
          </a:p>
        </p:txBody>
      </p:sp>
      <p:sp>
        <p:nvSpPr>
          <p:cNvPr id="183" name="Google Shape;183;p13"/>
          <p:cNvSpPr txBox="1"/>
          <p:nvPr/>
        </p:nvSpPr>
        <p:spPr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8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Shriftlar</a:t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60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Dizayn elementlari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5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Ranglar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3998060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#7959A4</a:t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 flipH="1">
            <a:off x="13942326" y="6670495"/>
            <a:ext cx="2042489" cy="1596461"/>
          </a:xfrm>
          <a:custGeom>
            <a:rect b="b" l="l" r="r" t="t"/>
            <a:pathLst>
              <a:path extrusionOk="0" h="1596461" w="2042489">
                <a:moveTo>
                  <a:pt x="2042489" y="0"/>
                </a:moveTo>
                <a:lnTo>
                  <a:pt x="0" y="0"/>
                </a:lnTo>
                <a:lnTo>
                  <a:pt x="0" y="1596460"/>
                </a:lnTo>
                <a:lnTo>
                  <a:pt x="2042489" y="1596460"/>
                </a:lnTo>
                <a:lnTo>
                  <a:pt x="2042489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Ushbu taqdimot shabloni quyidagilar tufayli barcha uchun bepul taqdim etiladi: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7108732" y="8097956"/>
            <a:ext cx="407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45" u="none" cap="none" strike="noStrike">
                <a:solidFill>
                  <a:srgbClr val="FFFFFF"/>
                </a:solidFill>
              </a:rPr>
              <a:t>Muvaffaqiyatli dizayn tilaymiz!</a:t>
            </a:r>
            <a:endParaRPr b="1" i="1"/>
          </a:p>
        </p:txBody>
      </p:sp>
      <p:sp>
        <p:nvSpPr>
          <p:cNvPr id="194" name="Google Shape;194;p14"/>
          <p:cNvSpPr txBox="1"/>
          <p:nvPr/>
        </p:nvSpPr>
        <p:spPr>
          <a:xfrm>
            <a:off x="4210005" y="5120045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4210005" y="6855261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fotosuratlar uchun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469973" y="1703314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2" u="none" cap="none" strike="noStrike">
                <a:solidFill>
                  <a:srgbClr val="FFFFFF"/>
                </a:solidFill>
              </a:rPr>
              <a:t>MINNATDORCHILIK</a:t>
            </a:r>
            <a:endParaRPr b="1"/>
          </a:p>
        </p:txBody>
      </p:sp>
      <p:sp>
        <p:nvSpPr>
          <p:cNvPr id="197" name="Google Shape;197;p14"/>
          <p:cNvSpPr txBox="1"/>
          <p:nvPr/>
        </p:nvSpPr>
        <p:spPr>
          <a:xfrm>
            <a:off x="6110027" y="6122794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6731779" y="3713372"/>
            <a:ext cx="4824443" cy="1206111"/>
          </a:xfrm>
          <a:custGeom>
            <a:rect b="b" l="l" r="r" t="t"/>
            <a:pathLst>
              <a:path extrusionOk="0" h="1206111" w="4824443">
                <a:moveTo>
                  <a:pt x="0" y="0"/>
                </a:moveTo>
                <a:lnTo>
                  <a:pt x="4824442" y="0"/>
                </a:lnTo>
                <a:lnTo>
                  <a:pt x="4824442" y="1206110"/>
                </a:lnTo>
                <a:lnTo>
                  <a:pt x="0" y="1206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