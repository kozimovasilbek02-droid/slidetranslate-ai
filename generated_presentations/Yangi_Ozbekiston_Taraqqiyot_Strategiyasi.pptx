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137160" cy="43891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F37"/>
                </a:solidFill>
                <a:latin typeface="Arial"/>
              </a:defRPr>
            </a:pPr>
            <a:r>
              <a:t>O'ZBEKISTONNING ENG YANGI TARIXI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Arial"/>
              </a:defRPr>
            </a:pPr>
            <a:r>
              <a:t>Yangi O'zbekiston Taraqqiyot Strategiyasi va Inson Qadri Tamoyili</a:t>
            </a:r>
          </a:p>
          <a:p>
            <a:pPr>
              <a:spcBef>
                <a:spcPts val="1800"/>
              </a:spcBef>
              <a:defRPr sz="1600">
                <a:solidFill>
                  <a:srgbClr val="CDE1FA"/>
                </a:solidFill>
                <a:latin typeface="Arial"/>
              </a:defRPr>
            </a:pPr>
            <a:r>
              <a:t>Inson qadrini ulug'lash, erkin fuqarolik jamiyatini barpo etish va milliy iqtisodiyotni yuksaltirishga qaratilgan strategik islohotlar tahlili</a:t>
            </a:r>
          </a:p>
          <a:p>
            <a:pPr>
              <a:spcBef>
                <a:spcPts val="4500"/>
              </a:spcBef>
              <a:defRPr sz="1250">
                <a:solidFill>
                  <a:srgbClr val="FFFFFF"/>
                </a:solidFill>
                <a:latin typeface="Arial"/>
              </a:defRPr>
            </a:pPr>
            <a:r>
              <a:t>Fan: Tarix / Ijtimoiy fanlar  |  Hajmi: 16 Slayd  |  Mustaqil 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REJA VA TUZILISH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Taqdimot Rejasi (Mundarija)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572768"/>
            <a:ext cx="548640" cy="5486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554480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B3D91"/>
                </a:solidFill>
              </a:defRPr>
            </a:pPr>
            <a:r>
              <a:t>Yangi O'zbekiston tushunchasi va strategik maqsadlar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Milliy tiklanishdan milliy yuksalishga o'tish bosqichlari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59152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468880"/>
            <a:ext cx="548640" cy="5486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450592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B3D91"/>
                </a:solidFill>
              </a:defRPr>
            </a:pPr>
            <a:r>
              <a:t>Inson qadri va uning davlat siyosatidagi ustuvor o'rni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Inson - jamiyat - davlat tamoyili va ijtimoiy kafolatlar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55264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364992"/>
            <a:ext cx="548640" cy="5486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46704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B3D91"/>
                </a:solidFill>
              </a:defRPr>
            </a:pPr>
            <a:r>
              <a:t>Iqtisodiy islohotlar: erkin bozor va investitsion muhit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Tadbirkorlikni qo'llab-quvvatlash va raqamli iqtisodiyot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51376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261104"/>
            <a:ext cx="548640" cy="5486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242816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B3D91"/>
                </a:solidFill>
              </a:defRPr>
            </a:pPr>
            <a:r>
              <a:t>Ta'lim va sog'liqni saqlash sohasidagi tub o'zgarishlar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Inson kapitaliga investitsiya va tibbiy xizmat kalitlari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047488"/>
            <a:ext cx="10728655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5157216"/>
            <a:ext cx="548640" cy="54864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13892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B3D91"/>
                </a:solidFill>
              </a:defRPr>
            </a:pPr>
            <a:r>
              <a:t>Tashqi siyosat va Markaziy Osiyodagi yangi muhit</a:t>
            </a:r>
          </a:p>
          <a:p>
            <a:pPr>
              <a:defRPr sz="1100">
                <a:solidFill>
                  <a:srgbClr val="5A646E"/>
                </a:solidFill>
              </a:defRPr>
            </a:pPr>
            <a:r>
              <a:t>Ochoq, pragmatik va yaxshi qo'shnichilik diplomatiyasi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KIRISH VA KONSEP-SIYA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Yangi Davrning Tarixiy Zaruriyati va Bosh G'oyasi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B3D91"/>
                </a:solidFill>
                <a:latin typeface="Arial"/>
              </a:defRPr>
            </a:pPr>
            <a:r>
              <a:t>TARIXIY KONTEKST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Tarixiy Burilish Bosqichi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2016-yildan e'tiboran O'zbekiston rivojlanishining mutlaqo yangi bosqichi boshlandi.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Tarixiy taraqqiyotda davlat va jamiyat o'rtasidagi munosabatlar tubdan o'zgardi.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Eski byurokratik g'ovlar olib tashlanib, islohotlarning ochiqligi ta'minlandi.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9688"/>
                </a:solidFill>
                <a:latin typeface="Arial"/>
              </a:defRPr>
            </a:pPr>
            <a:r>
              <a:t>KONSEPSIYA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Tarixiy Konsepsiya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'Milliy tiklanishdan - Milliy yuksalish sari' g'oyasi bosh tamoyilga aylandi.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Islohotlar faqat raqamlar uchun emas, balki har bir fuqaro hayotida sezilishi shart qilindi.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Tarixiy tajriba va zamonaviy xalqaro standartlar uyg'unlashtirildi.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Arial"/>
              </a:defRPr>
            </a:pPr>
            <a:r>
              <a:t>MAQSAD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Bosh Maqsad va Vazifa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Erkin, obod va farovon Yangi O'zbekistonni barpo etish.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Dunyo hamjamiyatida mamlakatning munosib o'rni va nufuzini ta'minlash.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Kelajak avlod uchun barqaror rivojlanish poydevorini yaratish.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REJA 1: STRATEGIK MAQSADLAR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1. Yangi O'zbekiston Taraqqiyot Strategiyasi (2022-2026)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Strategik Yo'nalishlar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Erkin fuqarolik jamiyatini rivojlantirish.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Adolat va qonun ustuvorligini ta'minlash.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Milliy iqtisodiyotni jadal rivojlantirish.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Adolatli ijtimoiy siyosat yuritish.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Asosiy Ustuvor Maqsadlar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Ma'naviy taraqqiyotni ta'minlash va sohani yangi bosqichga olib chiqish.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Milliy manfaatlardan kelib chiqqan holda tashqi siyosat yuritish.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Mamlakat xavfsizligi va mudofaa salohiyatini kuchaytirish.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Kutilayotgan Natijalar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Aholi jon boshiga yalpi ichki mahsulot hajmini oshirish.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O'rta daromadli mamlakatlar qatoridan munosib o'rin egallash.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Kambag'allik darajasini kamida 2 baravarga qisqartirish.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REJA 1: DAVLAT BOSHQARUVI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Davlat Boshqaruvi va Mahalla Tizimida Transformatsiya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B3D91"/>
                </a:solidFill>
                <a:latin typeface="Arial"/>
              </a:defRPr>
            </a:pPr>
            <a:r>
              <a:t>TRANSFORMATSIYA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Boshqaruv Tizimi Islohoti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Ixcham va samarali davlat boshqaruv apparatini shakllantirish.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Vazirlik va idoralar mas'uliyatini oshirish va maqbullashtirish.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Davlat xizmatlarini to'liq raqamlashtirish va shaffoflikni ta'minlash.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9688"/>
                </a:solidFill>
                <a:latin typeface="Arial"/>
              </a:defRPr>
            </a:pPr>
            <a:r>
              <a:t>MAHALLABAY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Mahalla Tizimining O'rni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Mahalla - jamiyatning tayanch bo'g'iniga aylantirildi.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'Hokim yordamchisi', 'Yoshlar yetakchisi' va 'Xotin-qizlar faoli' institutlari joriy etildi.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Muammolarni bevosita joyida hal etish tizimi yo'lga qo'yildi.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Arial"/>
              </a:defRPr>
            </a:pPr>
            <a:r>
              <a:t>RAQAMLASHTIRISH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Xalq Bilan Muloqot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Prezident Xalq qabulxonalari faoliyatining samaradorligi.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Elektron hukumat (my.gov.uz) orqali yuzlab xizmatlarning yo'lga qo'yilishi.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Jamoatchilik nazorati va fuqarolar tashabbusining oshishi.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REJA 2: INSON QADRI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2. 'Inson Qadri Uchun' Tamoyilining Mazmun-Mohiyati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B3D91"/>
                </a:solidFill>
                <a:latin typeface="Arial"/>
              </a:defRPr>
            </a:pPr>
            <a:r>
              <a:t>TAMOYIL 1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Inson Qadri - Bosh Mezon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'Inson - jamiyat - davlat' tamoyili ustuvor etib belgilandi.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Davlat idoralari xalqqa xizmat qilishi shartligi konstitutsiyaviy darajada mustahkamlandi.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Har bir fuqaro huquqi va erkinligi oliy qadriyat sanaladi.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9688"/>
                </a:solidFill>
                <a:latin typeface="Arial"/>
              </a:defRPr>
            </a:pPr>
            <a:r>
              <a:t>TAMOYIL 2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Ijtimoiy Adolat va Himoya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Kam ta'minlangan va ehtiyojmand oilalarni manzilli qo'llab-quvvatlash.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'Ayollar daftari', 'Yoshlar daftari' va 'Saxovat daftari' tizimlari samaradorligi.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Nogironligi bo'lgan shaxslarga mehir va e'tibor qaratish.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Arial"/>
              </a:defRPr>
            </a:pPr>
            <a:r>
              <a:t>TAMOYIL 3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Konstitutsiyaviy Islohotlar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Yangi tahrirdagi Konstitutsiyada 'Ijtimoiy Davlat' maqomining belgilanishi.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Insonning mehnati, yashashi va ta'lim olishiga bo'lgan huquqlarining kengaytirilishi.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Shaxsiy daxlsizlik va xususiy mulk kafolatlarining kuchaytirilishi.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REJA 2: HUQUQIY KAFOLATLAR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Inson Huquqlari, Sud Mustaqilligi va So'z Erkinligi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Sud-Huquq Tizimi Islohoti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Sudlarning haqiqiy mustaqilligini ta'minlash.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Inson huquqlarini poymol etuvchi har qanday harakatga barham berish.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Advokatura institutini va himoya huquqini kuchaytirish.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Majburiy Mehnatga Barham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Bolalar mehnati va majburiy mehnat to'liq tugatildi.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Xalqaro Mehnat Tashkiloti (XMT) tomonidan e'tirof etildi.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Paxta boykoti (Cotton Campaign) bekor qilinishiga erishildi.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Fikr va So'z Erkinligi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Ommaviy axborot vositalari (OAV) va blogerlar faoliyatiga keng imkoniyatlar.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Davlat organlari faoliyatining ochiqligi va shaffofligi.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Jamoatchilik fikrining davlat qarorlariga ta'sir o'tkazishi.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REJA 3: IQTISODIYOT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3. Iqtisodiy Islohotlar: Valyuta, Soliq va Erkin Bozor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B3D91"/>
                </a:solidFill>
                <a:latin typeface="Arial"/>
              </a:defRPr>
            </a:pPr>
            <a:r>
              <a:t>VALYUTA ISLOHOTI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Valyuta Bozorini Erkinlashtirish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2017-yildagi erkin valyuta konvertatsiyasining joriy etilishi.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Xorijiy investorlar va mahalliy tadbirkorlar uchun teng sharoitlar yaratish.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Valyuta cheklovlarining bekor qilinishi.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9688"/>
                </a:solidFill>
                <a:latin typeface="Arial"/>
              </a:defRPr>
            </a:pPr>
            <a:r>
              <a:t>SOLIQ TIZIMI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Soliq Yukini Kamaytirish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Soliq stavkalarining maqbullashtirilishi va soddalashtirilishi.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QQS (Qo'shilgan qiymat solig'i) stavkasining 15% dan 12% ga tushirilishi.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Halol tadbirkorlik uchun imtiyozli sharoitlar.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Arial"/>
              </a:defRPr>
            </a:pPr>
            <a:r>
              <a:t>ERKIN BOZOR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Mulkchilik va Xususiylashtirish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Xususiy mulk daxlsizligining qonuniy kafolatlanishi.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Davlat aktivlarini shaffof tenderlar orqali xususiylashtirish.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Monopoliyani kamaytirish va raqobat muhitini rivojlantirish.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REJA 3: INVESTITSIYA VA BIZNES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Investitsiyalar Jalb Etish va Tadbirkorlikni Qo'llab-quvvatlash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Investitsiya Muhiti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Xorijiy sarmoyadorlar uchun huquqiy va iqtisodiy kafolatlar.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Maxsus iqtisodiy zonalar (MIZ) va texnoparklar tarmog'ini kengaytirish.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Xalqaro kredit reytinqlarida O'zbekiston pozitsiyasining yaxshilanishi.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Kichik va O'rta Biznes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Tadbirkorlik faoliyatini tekshirishlarga moratoriy va yengilliklar.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Imtiyozli kreditlar va subsidiyalar ajratish hajmining oshishi.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Yangi ish o'rinlarini yaratishda biznesning asosiy drayverga aylanishi.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Sanoat va Eksport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Xomashyo eksportidan tayyor mahsulot eksportiga o'tish strategiyasi.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Avtomobilsozlik, to'qimachilik va kimyo sanoatida modernizatsiya.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Jahon Savdo Tashkilotiga (JST) a'zo bo'lish bo'yicha jadal muzokaralar.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REJA 4: TA'LIM ISLOHOTLARI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4. Ta'lim Sohasidagi Tub O'zgarishlar va Inson Kapitali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B3D91"/>
                </a:solidFill>
                <a:latin typeface="Arial"/>
              </a:defRPr>
            </a:pPr>
            <a:r>
              <a:t>MAKTABGACHA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Bog'cha Tizimi Islohoti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Maktabgacha ta'lim vazirligining tashkil etilishi.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Qamrov darajasini 27% dan 72% dan ortiq ko'rsatkichga etkazish.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Xususiy va davlat-xususiy sheriklik bog'chalarini ko'paytirish.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9688"/>
                </a:solidFill>
                <a:latin typeface="Arial"/>
              </a:defRPr>
            </a:pPr>
            <a:r>
              <a:t>MAKTAB TA'LIMI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Maktablar va O'qituvchi Qadri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O'qituvchilar ish haqini oshirish va ularni majburiy mehnatsiz qilish.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Prezident maktablari va Ijod maktablari tarmog'ini yaratish.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Zamonaviy darsliklar va milliy o'quv dasturlarini joriy etish.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Arial"/>
              </a:defRPr>
            </a:pPr>
            <a:r>
              <a:t>OLIY TA'LIM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Oliy Ta'lim Qamrovi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Oliy ta'lim bilan qamrovni 9% dan 38% ga oshirish.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Nufuzli xorijiy universitetlar filiallarini ochish.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OTMlarga akademik va moliyaviy mustaqillik berilishi.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REJA 4: SOG'LIQNI SAQLASH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Sog'liqni Saqlash Tizimi va Aholi Salomatligi Muhofazasi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Tibbiy Xizmat Sifati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Birinchi bo'g'in (oilaviy shifokorlik va poliklinikalar)ni rivojlantirish.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Qishloq joylarda tibbiy maskanlar va tez yordam sifatini oshirish.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Tibbiyot xodimlarining moddiy va ma'naviy rag'batlantirilishi.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Sug'urta va Shoshilinch Yordam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Davlat tibbiy sug'urtasi tizimini bosqichma-bosqich joriy etish.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Yuqori texnologik murakkab operatsiyalarni mahalliy darajada o'tkazish.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Dori-darmon ta'minotida shaffoflik va nazoratni kuchaytirish.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Aholi Salomatligi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Ommaviy sport va sog'lom turmush tarzini targ'ib qilish.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Ona va bola salomatligini muhofaza qilish bo'yicha milliy dasturlar.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Aholining o'rtacha umr ko'rish davomiyligining uzayishi.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REJA 5: TASHQI SIYOSAT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5. Tashqi Siyosat: Markaziy Osiyodagi Yangi Muhit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B3D91"/>
                </a:solidFill>
                <a:latin typeface="Arial"/>
              </a:defRPr>
            </a:pPr>
            <a:r>
              <a:t>PRIORITET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Markaziy Osiyo - Asosiy Ustuvorlik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Qo'shni davlatlar bilan do'stona va yaxshi qo'shnichilik aloqalarini tiklash.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Chegara va suv-energetika muammolarini tinch muloqot orqali hal etish.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Mintaqaviy savdo-sotiq va transport koridorlarini rivojlantirish.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9688"/>
                </a:solidFill>
                <a:latin typeface="Arial"/>
              </a:defRPr>
            </a:pPr>
            <a:r>
              <a:t>MINTAQAVIY MULOQOT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Mintaqaviy Integratsiya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Markaziy Osiyo davlatlari rahbarlarining Maslahat uchrashuvlari tashabbusi.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Mintaqada o'zaro ishonch va barqarorlik muhitining qaror topishi.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Mintaqaviy xavfsizlik va birdamlikni ta'minlash.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Arial"/>
              </a:defRPr>
            </a:pPr>
            <a:r>
              <a:t>KO'P TOMONLAMA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Xalqaro Tashkilotlar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BMT, ShHT, TDT va MDB doirasida faol va tashabbuskor diplomatiya.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BMT Bosh Assambleyasida global va mintaqaviy tashabbuslarning ilgari surilishi.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O'zbekistonning xalqaro sammitlar markaziga aylanishi.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REJA 5: GLOBAL TASHABBUSLAR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Global Tashabbuslar, Logistika va Ekologik Diplomatiya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Transport va Logistika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Xitoy - Qirg'iziston - O'zbekiston temir yo'li loyihasi.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Trans-Afg'on transport koridori va Janubiy Osiyoga chiqish imkoniyati.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Yangi strategik avto va temir yo'l yo'nalishlarini barpo etish.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Ekologik Diplomatiya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Orolbo'yi mintaqasi bo'yicha global tashabbuslar va BMT rezolutsiyalari.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'Yashil makon' umummilliy loyihasi va ekologik barqarorlik.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Muqobil va yashil energetikaga o'tish bo'yicha xalqaro hamkorlik.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Ko'p Vektorli Diplomatiya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AQSH, Yevropa Ittifoqi, Xitoy, Rossiya va Osiyo mamlakatlari bilan muvozanatli aloqalar.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Madaniy-gumanitar va turizm sohasidagi hamkorlikni kengaytirish.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O'zbekistonning iqtisodiy diplomatiyasi va eksport geografiyasini oshirish.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XALQARO E'TIROF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Yangi O'zbekiston Islohotlarining Xalqaro E'tirofi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B3D91"/>
                </a:solidFill>
                <a:latin typeface="Arial"/>
              </a:defRPr>
            </a:pPr>
            <a:r>
              <a:t>E'TIROF 1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BMT va Xalqaro Tashkilotlar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O'zbekiston ilgari surgan bir necha maxsus rezolutsiyalarning BMT tomonidan qabul qilinishi.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Inson huquqlari bo'yicha Kengashga a'zolik va faoliyat.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YuNESKO va boshqa xalqaro tuzilmalar bilan samarali sheriklik.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9688"/>
                </a:solidFill>
                <a:latin typeface="Arial"/>
              </a:defRPr>
            </a:pPr>
            <a:r>
              <a:t>E'TIROF 2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Nufuzli Nashrlar va Reytinglar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'The Economist' tomonidan O'zbekistonning 'Yil mamlakati' deb e'tirof etilishi.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Jahon bankining 'Doing Business' va BMTning inson taraqqiyoti indeksidagi ko'tarilish.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Sayyohlik va turizm jozibadorligi bo'yicha yuqori o'rinlar.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Arial"/>
              </a:defRPr>
            </a:pPr>
            <a:r>
              <a:t>E'TIROF 3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Mintaqaviy Liderlik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Markaziy Osiyoda tinchlik va hamkorlik kafolatchisi sifatida e'tirof etilishi.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Afg'onistonda tinchlik o'rnatish va gumanitar yordam ko'rsatishdagi yetakchi o'rni.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Mintaqada barqaror rivojlanish drayveriga aylanishi.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9688"/>
                </a:solidFill>
                <a:latin typeface="Arial"/>
              </a:defRPr>
            </a:pPr>
            <a:r>
              <a:t>XULOSA VA ISTIQBOL</a:t>
            </a:r>
          </a:p>
          <a:p>
            <a:pPr>
              <a:spcBef>
                <a:spcPts val="300"/>
              </a:spcBef>
              <a:defRPr sz="2300" b="1">
                <a:solidFill>
                  <a:srgbClr val="0B3D91"/>
                </a:solidFill>
                <a:latin typeface="Arial"/>
              </a:defRPr>
            </a:pPr>
            <a:r>
              <a:t>Xulosa: Yangi O'zbekistonning Tarixiy Roli va Kelajagi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423818" cy="73152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B3D91"/>
                </a:solidFill>
                <a:latin typeface="Arial"/>
              </a:defRPr>
            </a:pPr>
            <a:r>
              <a:t>XULOSA 1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Taraqqiyotning Ortga Qaytmasligi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Yangi O'zbekiston strategiyasi - mamlakatimiz taraqqiyotining yangi poydevorini yaratdi.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Islohotlar ortga qaytmas tus oldi va xalq tomonidan to'liq qo'llab-quvvatlanmoqda.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Davlat va jamiyat o'rtasidagi ishonch ko'prigi mustahkamlandi.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3938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3938" y="1463040"/>
            <a:ext cx="3423818" cy="73152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2538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09688"/>
                </a:solidFill>
                <a:latin typeface="Arial"/>
              </a:defRPr>
            </a:pPr>
            <a:r>
              <a:t>XULOSA 2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Inson Qadri - Doimiy Maydon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Inson qadrini ulug'lash - faqat shior emas, amaliy harakatlar mezoniga aylandi.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Har bir fuqaro uchun teng imkoniyatlar va adolatli jamiyat barpo etilmoqda.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Kelajak avlod uchun kuchli, mustaqil va farovon davlat meros qoladi.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36356" y="1463040"/>
            <a:ext cx="3423818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36356" y="1463040"/>
            <a:ext cx="3423818" cy="73152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4956" y="1645920"/>
            <a:ext cx="2966618" cy="416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D4AF37"/>
                </a:solidFill>
                <a:latin typeface="Arial"/>
              </a:defRPr>
            </a:pPr>
            <a:r>
              <a:t>XULOSA 3</a:t>
            </a:r>
          </a:p>
          <a:p>
            <a:pPr>
              <a:spcBef>
                <a:spcPts val="200"/>
              </a:spcBef>
              <a:defRPr sz="1400" b="1">
                <a:solidFill>
                  <a:srgbClr val="0B3D91"/>
                </a:solidFill>
                <a:latin typeface="Arial"/>
              </a:defRPr>
            </a:pPr>
            <a:r>
              <a:t>Kelajakka Nigoh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O'zbekiston-2030 strategiyasi doirasida yanada yuksak marralar belgilandi.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Raqamli iqtisodiyot, yashil energetika va innovatsion ta'lim ustuvor bo'lib qoladi.</a:t>
            </a:r>
          </a:p>
          <a:p>
            <a:pPr>
              <a:spcBef>
                <a:spcPts val="500"/>
              </a:spcBef>
              <a:defRPr sz="1100">
                <a:solidFill>
                  <a:srgbClr val="212529"/>
                </a:solidFill>
                <a:latin typeface="Arial"/>
              </a:defRPr>
            </a:pPr>
            <a:r>
              <a:t>• Milliy yuksalish va farovonlik sari sabit qadam tashlanmoqda.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6217920"/>
            <a:ext cx="10728655" cy="13716"/>
          </a:xfrm>
          <a:prstGeom prst="rect">
            <a:avLst/>
          </a:prstGeom>
          <a:solidFill>
            <a:srgbClr val="DC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46E"/>
                </a:solidFill>
                <a:latin typeface="Arial"/>
              </a:defRPr>
            </a:pPr>
            <a:r>
              <a:t>Yangi O'zbekiston Taraqqiyot Strategiyasi va Inson Qadri Tamoyili | 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D4AF37"/>
                </a:solidFill>
              </a:defRPr>
            </a:pPr>
            <a:r>
              <a:t>E'TIBORINGIZ UCHUN RAHMAT!</a:t>
            </a:r>
          </a:p>
          <a:p>
            <a:pPr algn="ctr">
              <a:spcBef>
                <a:spcPts val="1500"/>
              </a:spcBef>
              <a:defRPr sz="1800">
                <a:solidFill>
                  <a:srgbClr val="FFFFFF"/>
                </a:solidFill>
              </a:defRPr>
            </a:pPr>
            <a:r>
              <a:t>Yangi O'zbekiston Taraqqiyot Strategiyasi va Inson Qadri Tamoyili</a:t>
            </a:r>
          </a:p>
          <a:p>
            <a:pPr algn="ctr">
              <a:spcBef>
                <a:spcPts val="3000"/>
              </a:spcBef>
              <a:defRPr sz="1400">
                <a:solidFill>
                  <a:srgbClr val="C8DCF5"/>
                </a:solidFill>
              </a:defRPr>
            </a:pPr>
            <a:r>
              <a:t>Savollar va muhokama uchun tashakkur!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